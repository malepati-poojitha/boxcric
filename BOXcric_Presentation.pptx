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Segoe UI"/>
              </a:defRPr>
            </a:pPr>
            <a:r>
              <a:t>BOXcric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8DADC"/>
                </a:solidFill>
                <a:latin typeface="Segoe UI"/>
              </a:defRPr>
            </a:pPr>
            <a:r>
              <a:t>Cricket Match Management &amp; Live Scoring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474720"/>
            <a:ext cx="2103120" cy="254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Segoe UI"/>
              </a:defRPr>
            </a:pPr>
            <a:r>
              <a:t>A Full-Stack Web Application for Local Cricket Communities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A6"/>
                </a:solidFill>
                <a:latin typeface="Segoe UI"/>
              </a:defRPr>
            </a:pPr>
            <a:r>
              <a:t>Python  |  FastAPI  |  SQLAlchemy  |  Turso  |  WebSocket  |  PWA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A6"/>
                </a:solidFill>
                <a:latin typeface="Segoe UI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2818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C757D"/>
                </a:solidFill>
                <a:latin typeface="Segoe UI"/>
              </a:defRPr>
            </a:pPr>
            <a:r>
              <a:t>Why BOXcric?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Segoe UI"/>
              </a:defRPr>
            </a:pPr>
            <a:r>
              <a:t>In regular/local cricket matches played among friends, clubs, and community teams, there is no affordable or accessible tool to manage match scoring, track player statistics, maintain records, and provide real-time updates. Existing apps like Cricbuzz and ESPNcricinfo cater only to professional tournaments.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3291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8346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818"/>
                </a:solidFill>
                <a:latin typeface="Segoe UI"/>
              </a:defRPr>
            </a:pPr>
            <a:r>
              <a:t>⚡  Real-time Scoring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004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Segoe UI"/>
              </a:defRPr>
            </a:pPr>
            <a:r>
              <a:t>Ball-by-ball updates must</a:t>
            </a:r>
            <a:br/>
            <a:r>
              <a:t>reflect instantly for all users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743200"/>
            <a:ext cx="3291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8346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818"/>
                </a:solidFill>
                <a:latin typeface="Segoe UI"/>
              </a:defRPr>
            </a:pPr>
            <a:r>
              <a:t>💾  Data Persistence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2004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Segoe UI"/>
              </a:defRPr>
            </a:pPr>
            <a:r>
              <a:t>Free hosting (Render) has</a:t>
            </a:r>
            <a:br/>
            <a:r>
              <a:t>ephemeral filesystems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2743200"/>
            <a:ext cx="3291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28346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818"/>
                </a:solidFill>
                <a:latin typeface="Segoe UI"/>
              </a:defRPr>
            </a:pPr>
            <a:r>
              <a:t>📱  Mobile-First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32004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Segoe UI"/>
              </a:defRPr>
            </a:pPr>
            <a:r>
              <a:t>Most users access from</a:t>
            </a:r>
            <a:br/>
            <a:r>
              <a:t>phones — needs PWA support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389120"/>
            <a:ext cx="3291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805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818"/>
                </a:solidFill>
                <a:latin typeface="Segoe UI"/>
              </a:defRPr>
            </a:pPr>
            <a:r>
              <a:t>💰  Zero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84632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Segoe UI"/>
              </a:defRPr>
            </a:pPr>
            <a:r>
              <a:t>Entire platform must run</a:t>
            </a:r>
            <a:br/>
            <a:r>
              <a:t>on free-tier services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4389120"/>
            <a:ext cx="3291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44805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818"/>
                </a:solidFill>
                <a:latin typeface="Segoe UI"/>
              </a:defRPr>
            </a:pPr>
            <a:r>
              <a:t>✅  Data Accuracy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84632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Segoe UI"/>
              </a:defRPr>
            </a:pPr>
            <a:r>
              <a:t>Scoring mistakes happen —</a:t>
            </a:r>
            <a:br/>
            <a:r>
              <a:t>need undo/correction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4389120"/>
            <a:ext cx="3291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44805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818"/>
                </a:solidFill>
                <a:latin typeface="Segoe UI"/>
              </a:defRPr>
            </a:pPr>
            <a:r>
              <a:t>🎯  User Engagement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484632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Segoe UI"/>
              </a:defRPr>
            </a:pPr>
            <a:r>
              <a:t>Fans need interactive features</a:t>
            </a:r>
            <a:br/>
            <a:r>
              <a:t>beyond passive viewing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2818"/>
                </a:solidFill>
                <a:latin typeface="Segoe UI"/>
              </a:defRPr>
            </a:pPr>
            <a:r>
              <a:t>Scope of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C757D"/>
                </a:solidFill>
                <a:latin typeface="Segoe UI"/>
              </a:defRPr>
            </a:pPr>
            <a:r>
              <a:t>Key modules and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5176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2818"/>
                </a:solidFill>
                <a:latin typeface="Segoe UI"/>
              </a:defRPr>
            </a:pPr>
            <a:r>
              <a:t>🏏  Match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74520"/>
            <a:ext cx="2286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21945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Create matches, record toss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Start/end matches, super overs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Full match lifecycle tracking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371600"/>
            <a:ext cx="265176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508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2818"/>
                </a:solidFill>
                <a:latin typeface="Segoe UI"/>
              </a:defRPr>
            </a:pPr>
            <a:r>
              <a:t>📊  Live Scoring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874520"/>
            <a:ext cx="2286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965960"/>
            <a:ext cx="21945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Ball-by-ball recording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Extras, wickets, fielder info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Undo/correction system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371600"/>
            <a:ext cx="265176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508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2818"/>
                </a:solidFill>
                <a:latin typeface="Segoe UI"/>
              </a:defRPr>
            </a:pPr>
            <a:r>
              <a:t>⚡  Real-time Updates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874520"/>
            <a:ext cx="2286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965960"/>
            <a:ext cx="21945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WebSocket live score push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All connected clients updated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Instant score broadcast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1371600"/>
            <a:ext cx="265176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508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2818"/>
                </a:solidFill>
                <a:latin typeface="Segoe UI"/>
              </a:defRPr>
            </a:pPr>
            <a:r>
              <a:t>👥  Player &amp; Team Mgmt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874520"/>
            <a:ext cx="2286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1965960"/>
            <a:ext cx="21945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CRUD for players &amp; teams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Batting/bowling styles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Captain, vice-captain, host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23360"/>
            <a:ext cx="265176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160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2818"/>
                </a:solidFill>
                <a:latin typeface="Segoe UI"/>
              </a:defRPr>
            </a:pPr>
            <a:r>
              <a:t>📈  Statistics &amp; Records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526280"/>
            <a:ext cx="2286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617720"/>
            <a:ext cx="21945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Career batting &amp; bowling stats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All-time records &amp; rankings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Head-to-head comparisons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4023360"/>
            <a:ext cx="265176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4160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2818"/>
                </a:solidFill>
                <a:latin typeface="Segoe UI"/>
              </a:defRPr>
            </a:pPr>
            <a:r>
              <a:t>🔐  User System &amp; Auth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0" y="4526280"/>
            <a:ext cx="2286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20440" y="4617720"/>
            <a:ext cx="21945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OTP-based email login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Profile management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JWT cookie authentication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4023360"/>
            <a:ext cx="265176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4160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2818"/>
                </a:solidFill>
                <a:latin typeface="Segoe UI"/>
              </a:defRPr>
            </a:pPr>
            <a:r>
              <a:t>🎉  Social Features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4526280"/>
            <a:ext cx="2286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4617720"/>
            <a:ext cx="21945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MOM voting, predictions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Emoji reactions, fantasy XI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Milestone auto-detection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61120" y="4023360"/>
            <a:ext cx="265176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0" y="4160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2818"/>
                </a:solidFill>
                <a:latin typeface="Segoe UI"/>
              </a:defRPr>
            </a:pPr>
            <a:r>
              <a:t>📱  PWA &amp; Notifications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0" y="4526280"/>
            <a:ext cx="2286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89720" y="4617720"/>
            <a:ext cx="21945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Installable web app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In-app match notifications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Offline static asset caching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2818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C757D"/>
                </a:solidFill>
                <a:latin typeface="Segoe UI"/>
              </a:defRPr>
            </a:pPr>
            <a:r>
              <a:t>Tools and frameworks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5176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6517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•  Python 3.11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•  FastAPI (async, auto-docs)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•  SQLAlchemy 2.0 ORM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•  Uvicorn ASGI server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371600"/>
            <a:ext cx="265176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371600"/>
            <a:ext cx="2651760" cy="73152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472A"/>
                </a:solidFill>
                <a:latin typeface="Segoe UI"/>
              </a:defRPr>
            </a:pPr>
            <a:r>
              <a:t>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01168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•  Turso (libsql) — cloud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•  SQLite — local fallback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•  Embedded replica sync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•  Zero data loss on redeploy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371600"/>
            <a:ext cx="265176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371600"/>
            <a:ext cx="265176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Segoe UI"/>
              </a:defRPr>
            </a:pPr>
            <a:r>
              <a:t>Authentication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01168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•  JWT tokens (python-jose)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•  bcrypt password hashing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•  httponly cookie sessions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•  OTP via Brevo email API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1371600"/>
            <a:ext cx="265176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0" y="1371600"/>
            <a:ext cx="26517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01168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•  Jinja2 templates (SSR)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•  Vanilla JavaScript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•  Progressive Web App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•  Dark/Light theme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2818"/>
                </a:solidFill>
                <a:latin typeface="Segoe UI"/>
              </a:defRPr>
            </a:pPr>
            <a:r>
              <a:t>Deployment &amp; Infrastructure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029200"/>
            <a:ext cx="26517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074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818"/>
                </a:solidFill>
                <a:latin typeface="Segoe UI"/>
              </a:defRPr>
            </a:pPr>
            <a:r>
              <a:t>Render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3949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Segoe UI"/>
              </a:defRPr>
            </a:pPr>
            <a:r>
              <a:t>Free tier hosting</a:t>
            </a:r>
            <a:br/>
            <a:r>
              <a:t>Auto-deploy from GitHub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5029200"/>
            <a:ext cx="26517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5074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818"/>
                </a:solidFill>
                <a:latin typeface="Segoe UI"/>
              </a:defRPr>
            </a:pPr>
            <a:r>
              <a:t>Turso Cloud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53949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Segoe UI"/>
              </a:defRPr>
            </a:pPr>
            <a:r>
              <a:t>Persistent database</a:t>
            </a:r>
            <a:br/>
            <a:r>
              <a:t>Edge replicas, free tier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5029200"/>
            <a:ext cx="26517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5074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818"/>
                </a:solidFill>
                <a:latin typeface="Segoe UI"/>
              </a:defRPr>
            </a:pPr>
            <a:r>
              <a:t>Brevo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3949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Segoe UI"/>
              </a:defRPr>
            </a:pPr>
            <a:r>
              <a:t>Email delivery</a:t>
            </a:r>
            <a:br/>
            <a:r>
              <a:t>300 free emails/day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61120" y="5029200"/>
            <a:ext cx="26517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0" y="5074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818"/>
                </a:solidFill>
                <a:latin typeface="Segoe UI"/>
              </a:defRPr>
            </a:pPr>
            <a:r>
              <a:t>GitHub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53949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Segoe UI"/>
              </a:defRPr>
            </a:pPr>
            <a:r>
              <a:t>Version control</a:t>
            </a:r>
            <a:br/>
            <a:r>
              <a:t>CI/CD trigger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2818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C757D"/>
                </a:solidFill>
                <a:latin typeface="Segoe UI"/>
              </a:defRPr>
            </a:pPr>
            <a:r>
              <a:t>How the components connect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563EB"/>
                </a:solidFill>
                <a:latin typeface="Segoe UI"/>
              </a:defRPr>
            </a:pPr>
            <a:r>
              <a:t>Browser (PWA)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Segoe UI"/>
              </a:defRPr>
            </a:pPr>
            <a:r>
              <a:t>•  Jinja2 rendered HTML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Segoe UI"/>
              </a:defRPr>
            </a:pPr>
            <a:r>
              <a:t>•  Vanilla JS fetch() calls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Segoe UI"/>
              </a:defRPr>
            </a:pPr>
            <a:r>
              <a:t>•  WebSocket client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Segoe UI"/>
              </a:defRPr>
            </a:pPr>
            <a:r>
              <a:t>•  Service Worker cache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Segoe UI"/>
              </a:defRPr>
            </a:pPr>
            <a:r>
              <a:t>•  Dark/Light theme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Segoe UI"/>
              </a:defRPr>
            </a:pPr>
            <a:r>
              <a:t>•  Pull-to-refresh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3200400"/>
            <a:ext cx="1097280" cy="381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834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HTTP / 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645920"/>
            <a:ext cx="29260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691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472A"/>
                </a:solidFill>
                <a:latin typeface="Segoe UI"/>
              </a:defRPr>
            </a:pPr>
            <a:r>
              <a:t>FastAPI Server (Render)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194560"/>
            <a:ext cx="2560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A1A2E"/>
                </a:solidFill>
                <a:latin typeface="Segoe UI"/>
              </a:defRPr>
            </a:pPr>
            <a:r>
              <a:t>•  13 API routers</a:t>
            </a:r>
          </a:p>
          <a:p>
            <a:pPr>
              <a:spcAft>
                <a:spcPts val="500"/>
              </a:spcAft>
              <a:defRPr sz="1200">
                <a:solidFill>
                  <a:srgbClr val="1A1A2E"/>
                </a:solidFill>
                <a:latin typeface="Segoe UI"/>
              </a:defRPr>
            </a:pPr>
            <a:r>
              <a:t>•  REST endpoints (CRUD)</a:t>
            </a:r>
          </a:p>
          <a:p>
            <a:pPr>
              <a:spcAft>
                <a:spcPts val="500"/>
              </a:spcAft>
              <a:defRPr sz="1200">
                <a:solidFill>
                  <a:srgbClr val="1A1A2E"/>
                </a:solidFill>
                <a:latin typeface="Segoe UI"/>
              </a:defRPr>
            </a:pPr>
            <a:r>
              <a:t>•  WebSocket manager</a:t>
            </a:r>
          </a:p>
          <a:p>
            <a:pPr>
              <a:spcAft>
                <a:spcPts val="500"/>
              </a:spcAft>
              <a:defRPr sz="1200">
                <a:solidFill>
                  <a:srgbClr val="1A1A2E"/>
                </a:solidFill>
                <a:latin typeface="Segoe UI"/>
              </a:defRPr>
            </a:pPr>
            <a:r>
              <a:t>•  Scoring engine</a:t>
            </a:r>
          </a:p>
          <a:p>
            <a:pPr>
              <a:spcAft>
                <a:spcPts val="500"/>
              </a:spcAft>
              <a:defRPr sz="1200">
                <a:solidFill>
                  <a:srgbClr val="1A1A2E"/>
                </a:solidFill>
                <a:latin typeface="Segoe UI"/>
              </a:defRPr>
            </a:pPr>
            <a:r>
              <a:t>•  Stats &amp; rankings service</a:t>
            </a:r>
          </a:p>
          <a:p>
            <a:pPr>
              <a:spcAft>
                <a:spcPts val="500"/>
              </a:spcAft>
              <a:defRPr sz="1200">
                <a:solidFill>
                  <a:srgbClr val="1A1A2E"/>
                </a:solidFill>
                <a:latin typeface="Segoe UI"/>
              </a:defRPr>
            </a:pPr>
            <a:r>
              <a:t>•  Notification service</a:t>
            </a:r>
          </a:p>
          <a:p>
            <a:pPr>
              <a:spcAft>
                <a:spcPts val="500"/>
              </a:spcAft>
              <a:defRPr sz="1200">
                <a:solidFill>
                  <a:srgbClr val="1A1A2E"/>
                </a:solidFill>
                <a:latin typeface="Segoe UI"/>
              </a:defRPr>
            </a:pPr>
            <a:r>
              <a:t>•  Commentary generator</a:t>
            </a:r>
          </a:p>
          <a:p>
            <a:pPr>
              <a:spcAft>
                <a:spcPts val="500"/>
              </a:spcAft>
              <a:defRPr sz="1200">
                <a:solidFill>
                  <a:srgbClr val="1A1A2E"/>
                </a:solidFill>
                <a:latin typeface="Segoe UI"/>
              </a:defRPr>
            </a:pPr>
            <a:r>
              <a:t>•  Win probability calc</a:t>
            </a:r>
          </a:p>
          <a:p>
            <a:pPr>
              <a:spcAft>
                <a:spcPts val="500"/>
              </a:spcAft>
              <a:defRPr sz="1200">
                <a:solidFill>
                  <a:srgbClr val="1A1A2E"/>
                </a:solidFill>
                <a:latin typeface="Segoe UI"/>
              </a:defRPr>
            </a:pPr>
            <a:r>
              <a:t>•  JWT auth middleware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3200400"/>
            <a:ext cx="1097280" cy="381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2834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libsql sync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2103120"/>
            <a:ext cx="25603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2148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  <a:latin typeface="Segoe UI"/>
              </a:defRPr>
            </a:pPr>
            <a:r>
              <a:t>Turso Cloud 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6060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Segoe UI"/>
              </a:defRPr>
            </a:pPr>
            <a:r>
              <a:t>•  SQLite-compatible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Segoe UI"/>
              </a:defRPr>
            </a:pPr>
            <a:r>
              <a:t>•  Cloud-persistent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Segoe UI"/>
              </a:defRPr>
            </a:pPr>
            <a:r>
              <a:t>•  Embedded replica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Segoe UI"/>
              </a:defRPr>
            </a:pPr>
            <a:r>
              <a:t>•  Auto-sync on commit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Segoe UI"/>
              </a:defRPr>
            </a:pPr>
            <a:r>
              <a:t>•  Zero data loss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5029200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5074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Brevo Email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5440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C757D"/>
                </a:solidFill>
                <a:latin typeface="Segoe UI"/>
              </a:defRPr>
            </a:pPr>
            <a:r>
              <a:t>OTP delivery</a:t>
            </a:r>
            <a:br/>
            <a:r>
              <a:t>300 free emails/day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2818"/>
                </a:solidFill>
                <a:latin typeface="Segoe UI"/>
              </a:defRPr>
            </a:pPr>
            <a:r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C757D"/>
                </a:solidFill>
                <a:latin typeface="Segoe UI"/>
              </a:defRPr>
            </a:pPr>
            <a:r>
              <a:t>Entity-Relationship overview (14 tables)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4747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47472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•  id (PK)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•  name, email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•  hashed_password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•  batting/bowling style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•  is_admin, photo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371600"/>
            <a:ext cx="34747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371600"/>
            <a:ext cx="3474720" cy="411480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417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Players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8745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•  id (PK)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•  name, nickname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•  batting_style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•  bowling_style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•  user_id (FK → Users)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371600"/>
            <a:ext cx="34747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371600"/>
            <a:ext cx="347472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39" y="1417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Teams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18745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•  id (PK)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•  name, short_name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•  captain_id (FK)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•  host_id (FK → Users)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•  players (M:N)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31920"/>
            <a:ext cx="34747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931920"/>
            <a:ext cx="3474720" cy="4114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77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Matches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4348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•  id (PK)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•  team1_id, team2_id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•  status (lifecycle)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•  toss, winner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•  result_summary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3931920"/>
            <a:ext cx="34747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06240" y="3931920"/>
            <a:ext cx="347472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3977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Innings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4348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•  id (PK)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•  match_id (FK)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•  batting/bowling team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•  runs, wickets, overs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•  is_completed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3931920"/>
            <a:ext cx="34747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2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55279" y="3931920"/>
            <a:ext cx="3474720" cy="411480"/>
          </a:xfrm>
          <a:prstGeom prst="rect">
            <a:avLst/>
          </a:prstGeom>
          <a:solidFill>
            <a:srgbClr val="0D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39" y="3977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Balls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59" y="44348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•  id (PK)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•  innings_id (FK)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•  batter, bowler (FK)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•  runs, extras, wicket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•  is_legal, correction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Segoe UI"/>
              </a:defRPr>
            </a:pPr>
            <a:r>
              <a:t>Additional tables: Notifications, Videos, MatchPhotos, MOMVotes, Predictions, Reactions, Milestones, TeamPlayers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2818"/>
                </a:solidFill>
                <a:latin typeface="Segoe UI"/>
              </a:defRPr>
            </a:pPr>
            <a:r>
              <a:t>Core Feature: Live Scoring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C757D"/>
                </a:solidFill>
                <a:latin typeface="Segoe UI"/>
              </a:defRPr>
            </a:pPr>
            <a:r>
              <a:t>Ball-by-ball scoring with real-time updates</a:t>
            </a:r>
          </a:p>
        </p:txBody>
      </p:sp>
      <p:sp>
        <p:nvSpPr>
          <p:cNvPr id="5" name="Oval 4"/>
          <p:cNvSpPr/>
          <p:nvPr/>
        </p:nvSpPr>
        <p:spPr>
          <a:xfrm>
            <a:off x="1463040" y="146304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4904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26517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286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563EB"/>
                </a:solidFill>
                <a:latin typeface="Segoe UI"/>
              </a:defRPr>
            </a:pPr>
            <a:r>
              <a:t>Admin Scores Ball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51760"/>
            <a:ext cx="2286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POST /scoring/innings/{id}/ball</a:t>
            </a:r>
            <a:br/>
            <a:r>
              <a:t>with batter, bowler, runs, extras</a:t>
            </a:r>
          </a:p>
        </p:txBody>
      </p:sp>
      <p:sp>
        <p:nvSpPr>
          <p:cNvPr id="11" name="Oval 10"/>
          <p:cNvSpPr/>
          <p:nvPr/>
        </p:nvSpPr>
        <p:spPr>
          <a:xfrm>
            <a:off x="4389120" y="1463040"/>
            <a:ext cx="548640" cy="548640"/>
          </a:xfrm>
          <a:prstGeom prst="ellipse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4904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194560"/>
            <a:ext cx="26517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2286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472A"/>
                </a:solidFill>
                <a:latin typeface="Segoe UI"/>
              </a:defRPr>
            </a:pPr>
            <a:r>
              <a:t>Scoring Engine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2651760"/>
            <a:ext cx="2286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274320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Create Ball record</a:t>
            </a:r>
            <a:br/>
            <a:r>
              <a:t>Update innings totals</a:t>
            </a:r>
            <a:br/>
            <a:r>
              <a:t>Check completion rules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0" y="146304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14904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194560"/>
            <a:ext cx="26517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286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7C3AED"/>
                </a:solidFill>
                <a:latin typeface="Segoe UI"/>
              </a:defRPr>
            </a:pPr>
            <a:r>
              <a:t>Database Sync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2651760"/>
            <a:ext cx="2286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74320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Commit to SQLAlchemy</a:t>
            </a:r>
            <a:br/>
            <a:r>
              <a:t>libsql sync → Turso cloud</a:t>
            </a:r>
            <a:br/>
            <a:r>
              <a:t>Data persists permanently</a:t>
            </a:r>
          </a:p>
        </p:txBody>
      </p:sp>
      <p:sp>
        <p:nvSpPr>
          <p:cNvPr id="23" name="Oval 22"/>
          <p:cNvSpPr/>
          <p:nvPr/>
        </p:nvSpPr>
        <p:spPr>
          <a:xfrm>
            <a:off x="10241280" y="1463040"/>
            <a:ext cx="548640" cy="54864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0" y="14904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2194560"/>
            <a:ext cx="26517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2600" y="2286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63946"/>
                </a:solidFill>
                <a:latin typeface="Segoe UI"/>
              </a:defRPr>
            </a:pPr>
            <a:r>
              <a:t>WebSocket Broadcast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18320" y="2651760"/>
            <a:ext cx="2286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274320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Push to /ws/live/{match_id}</a:t>
            </a:r>
            <a:br/>
            <a:r>
              <a:t>All clients get updated score</a:t>
            </a:r>
            <a:br/>
            <a:r>
              <a:t>Instant real-time update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4680" y="29260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C757D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29260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C757D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29260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C757D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6634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2818"/>
                </a:solidFill>
                <a:latin typeface="Segoe UI"/>
              </a:defRPr>
            </a:pPr>
            <a:r>
              <a:t>Scoring Engine Features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02920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✓ Legal/illegal delivery tracking (wides, no-balls don't count)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✓ Auto over-increment after 6 legal balls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✓ Innings auto-completion (all out / overs done / target chased)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502920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✓ Super over support (1 over, max 2 wickets)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✓ Undo/correction — reverse last ball, re-score with correction flag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✓ Milestone auto-detection (50, 100, 3-wicket haul, 5-wicket haul)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2818"/>
                </a:solidFill>
                <a:latin typeface="Segoe UI"/>
              </a:defRPr>
            </a:pPr>
            <a:r>
              <a:t>Authentication &amp; User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C757D"/>
                </a:solidFill>
                <a:latin typeface="Segoe UI"/>
              </a:defRPr>
            </a:pPr>
            <a:r>
              <a:t>OTP login, JWT sessions, profile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517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65176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990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Step 1: Email 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User enters email address</a:t>
            </a:r>
            <a:br/>
            <a:r>
              <a:t>→ POST /api/user/forgot-password</a:t>
            </a:r>
            <a:br/>
            <a:r>
              <a:t>→ Auto-creates account if new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371600"/>
            <a:ext cx="26517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65176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3990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Step 2: OTP Delivery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874519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6-digit OTP generated</a:t>
            </a:r>
            <a:br/>
            <a:r>
              <a:t>→ 5-minute expiry</a:t>
            </a:r>
            <a:br/>
            <a:r>
              <a:t>→ Sent via Brevo email 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26517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265176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3990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Step 3: 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874519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User enters OTP</a:t>
            </a:r>
            <a:br/>
            <a:r>
              <a:t>→ POST /api/user/verify-otp</a:t>
            </a:r>
            <a:br/>
            <a:r>
              <a:t>→ OTP consumed (one-time use)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371600"/>
            <a:ext cx="26517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35440" y="1371600"/>
            <a:ext cx="265176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13990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Step 4: Session Created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1874519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JWT token generated (365 days)</a:t>
            </a:r>
            <a:br/>
            <a:r>
              <a:t>→ Set as httponly cookie</a:t>
            </a:r>
            <a:br/>
            <a:r>
              <a:t>→ User redirected to profile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74903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2818"/>
                </a:solidFill>
                <a:latin typeface="Segoe UI"/>
              </a:defRPr>
            </a:pPr>
            <a:r>
              <a:t>Security Features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06240"/>
            <a:ext cx="26517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251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Segoe UI"/>
              </a:defRPr>
            </a:pPr>
            <a:r>
              <a:t>🔒  Password 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6177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bcrypt hashing with</a:t>
            </a:r>
            <a:br/>
            <a:r>
              <a:t>random salt — never</a:t>
            </a:r>
            <a:br/>
            <a:r>
              <a:t>stored in plain text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4206240"/>
            <a:ext cx="26517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0440" y="4251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Segoe UI"/>
              </a:defRPr>
            </a:pPr>
            <a:r>
              <a:t>🔒  Cookie Protection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6177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httponly flag prevents</a:t>
            </a:r>
            <a:br/>
            <a:r>
              <a:t>JS access; SameSite=Lax</a:t>
            </a:r>
            <a:br/>
            <a:r>
              <a:t>prevents CSRF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206240"/>
            <a:ext cx="26517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251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Segoe UI"/>
              </a:defRPr>
            </a:pPr>
            <a:r>
              <a:t>🔒  Profile Edit Limit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6177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Key fields (batting style,</a:t>
            </a:r>
            <a:br/>
            <a:r>
              <a:t>role) limited to 5 edits</a:t>
            </a:r>
            <a:br/>
            <a:r>
              <a:t>to prevent abuse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35440" y="4206240"/>
            <a:ext cx="26517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72600" y="4251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Segoe UI"/>
              </a:defRPr>
            </a:pPr>
            <a:r>
              <a:t>🔒  Admin Separation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46177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Admin panel requires</a:t>
            </a:r>
            <a:br/>
            <a:r>
              <a:t>is_admin=True flag;</a:t>
            </a:r>
            <a:br/>
            <a:r>
              <a:t>separate from user app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2818"/>
                </a:solidFill>
                <a:latin typeface="Segoe UI"/>
              </a:defRPr>
            </a:pPr>
            <a:r>
              <a:t>Data Persistence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C757D"/>
                </a:solidFill>
                <a:latin typeface="Segoe UI"/>
              </a:defRPr>
            </a:pPr>
            <a:r>
              <a:t>Turso cloud database with embedded replica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3035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3946"/>
                </a:solidFill>
                <a:latin typeface="Segoe UI"/>
              </a:defRPr>
            </a:pPr>
            <a:r>
              <a:t>❌  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Segoe UI"/>
              </a:defRPr>
            </a:pPr>
            <a:r>
              <a:t>Render's free tier has an ephemeral filesystem.</a:t>
            </a:r>
            <a:br/>
            <a:r>
              <a:t>On every deploy or restart, all local files are deleted.</a:t>
            </a:r>
            <a:br/>
            <a:r>
              <a:t>A regular SQLite database would lose ALL data on redeploy.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3035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173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472A"/>
                </a:solidFill>
                <a:latin typeface="Segoe UI"/>
              </a:defRPr>
            </a:pPr>
            <a:r>
              <a:t>✅  The Solution: Turso + libsql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Segoe UI"/>
              </a:defRPr>
            </a:pPr>
            <a:r>
              <a:t>Turso stores data in the cloud (SQLite-compatible).</a:t>
            </a:r>
            <a:br/>
            <a:r>
              <a:t>libsql creates a local replica that syncs automatically.</a:t>
            </a:r>
            <a:br/>
            <a:r>
              <a:t>On redeploy: sync() pulls ALL data back. Zero data loss.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2818"/>
                </a:solidFill>
                <a:latin typeface="Segoe UI"/>
              </a:defRPr>
            </a:pPr>
            <a:r>
              <a:t>How It Works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02336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023360"/>
            <a:ext cx="3474720" cy="365760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05079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On Startup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2628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Segoe UI"/>
              </a:defRPr>
            </a:pPr>
            <a:r>
              <a:t>1. Connect to Turso cloud</a:t>
            </a:r>
            <a:br/>
            <a:r>
              <a:t>2. Create local replica file</a:t>
            </a:r>
            <a:br/>
            <a:r>
              <a:t>3. sync() downloads all data</a:t>
            </a:r>
            <a:br/>
            <a:r>
              <a:t>4. App ready to serve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402336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4023360"/>
            <a:ext cx="3474720" cy="365760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405079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On Write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52628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Segoe UI"/>
              </a:defRPr>
            </a:pPr>
            <a:r>
              <a:t>1. SQLAlchemy executes SQL</a:t>
            </a:r>
            <a:br/>
            <a:r>
              <a:t>2. libsql writes to local file</a:t>
            </a:r>
            <a:br/>
            <a:r>
              <a:t>3. commit() + sync()</a:t>
            </a:r>
            <a:br/>
            <a:r>
              <a:t>4. Data pushed to Turso cloud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402336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4023360"/>
            <a:ext cx="3474720" cy="365760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405079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On Redeploy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52628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Segoe UI"/>
              </a:defRPr>
            </a:pPr>
            <a:r>
              <a:t>1. Local file deleted (ephemeral)</a:t>
            </a:r>
            <a:br/>
            <a:r>
              <a:t>2. App restarts, connects Turso</a:t>
            </a:r>
            <a:br/>
            <a:r>
              <a:t>3. sync() pulls all data back</a:t>
            </a:r>
            <a:br/>
            <a:r>
              <a:t>4. Zero data loss guaranteed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2818"/>
                </a:solidFill>
                <a:latin typeface="Segoe UI"/>
              </a:defRPr>
            </a:pPr>
            <a:r>
              <a:t>Frontend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C757D"/>
                </a:solidFill>
                <a:latin typeface="Segoe UI"/>
              </a:defRPr>
            </a:pPr>
            <a:r>
              <a:t>Admin &amp; User interfaces with PWA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3035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303520" cy="4114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990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Admin Panel  (/admin)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•  Full CRUD for all entities</a:t>
            </a:r>
          </a:p>
          <a:p>
            <a:pPr>
              <a:spcAft>
                <a:spcPts val="70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•  Ball-by-ball scoring console</a:t>
            </a:r>
          </a:p>
          <a:p>
            <a:pPr>
              <a:spcAft>
                <a:spcPts val="70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•  Match lifecycle management</a:t>
            </a:r>
          </a:p>
          <a:p>
            <a:pPr>
              <a:spcAft>
                <a:spcPts val="70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•  Player/team management</a:t>
            </a:r>
          </a:p>
          <a:p>
            <a:pPr>
              <a:spcAft>
                <a:spcPts val="70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•  Video &amp; photo uploads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3035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30352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990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User App  (/app)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•  Live match following</a:t>
            </a:r>
          </a:p>
          <a:p>
            <a:pPr>
              <a:spcAft>
                <a:spcPts val="70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•  Personal stats &amp; rankings</a:t>
            </a:r>
          </a:p>
          <a:p>
            <a:pPr>
              <a:spcAft>
                <a:spcPts val="70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•  Notification bell + panel</a:t>
            </a:r>
          </a:p>
          <a:p>
            <a:pPr>
              <a:spcAft>
                <a:spcPts val="70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•  MOM voting &amp; predictions</a:t>
            </a:r>
          </a:p>
          <a:p>
            <a:pPr>
              <a:spcAft>
                <a:spcPts val="70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•  Fantasy XI selection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2818"/>
                </a:solidFill>
                <a:latin typeface="Segoe UI"/>
              </a:defRPr>
            </a:pPr>
            <a:r>
              <a:t>UI/UX Features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572000"/>
            <a:ext cx="26517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617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2818"/>
                </a:solidFill>
                <a:latin typeface="Segoe UI"/>
              </a:defRPr>
            </a:pPr>
            <a:r>
              <a:t>Dark/Light Theme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93776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Segoe UI"/>
              </a:defRPr>
            </a:pPr>
            <a:r>
              <a:t>CSS variables with</a:t>
            </a:r>
            <a:br/>
            <a:r>
              <a:t>data-theme attribute;</a:t>
            </a:r>
            <a:br/>
            <a:r>
              <a:t>persisted in localStorage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4572000"/>
            <a:ext cx="26517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40" y="4617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2818"/>
                </a:solidFill>
                <a:latin typeface="Segoe UI"/>
              </a:defRPr>
            </a:pPr>
            <a:r>
              <a:t>Responsive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493776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Segoe UI"/>
              </a:defRPr>
            </a:pPr>
            <a:r>
              <a:t>Desktop: horizontal nav</a:t>
            </a:r>
            <a:br/>
            <a:r>
              <a:t>Mobile: bottom nav bar</a:t>
            </a:r>
            <a:br/>
            <a:r>
              <a:t>Max-width 1200px container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572000"/>
            <a:ext cx="26517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617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2818"/>
                </a:solidFill>
                <a:latin typeface="Segoe UI"/>
              </a:defRPr>
            </a:pPr>
            <a:r>
              <a:t>PWA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93776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Segoe UI"/>
              </a:defRPr>
            </a:pPr>
            <a:r>
              <a:t>Service worker caches</a:t>
            </a:r>
            <a:br/>
            <a:r>
              <a:t>static assets only;</a:t>
            </a:r>
            <a:br/>
            <a:r>
              <a:t>installable on home screen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4572000"/>
            <a:ext cx="26517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72600" y="4617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2818"/>
                </a:solidFill>
                <a:latin typeface="Segoe UI"/>
              </a:defRPr>
            </a:pPr>
            <a:r>
              <a:t>Touch Gestures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493776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Segoe UI"/>
              </a:defRPr>
            </a:pPr>
            <a:r>
              <a:t>Pull-to-refresh on mobile;</a:t>
            </a:r>
            <a:br/>
            <a:r>
              <a:t>haptic feedback on scoring;</a:t>
            </a:r>
            <a:br/>
            <a:r>
              <a:t>swipe-friendly cards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2818"/>
                </a:solidFill>
                <a:latin typeface="Segoe UI"/>
              </a:defRPr>
            </a:pPr>
            <a:r>
              <a:t>REST API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C757D"/>
                </a:solidFill>
                <a:latin typeface="Segoe UI"/>
              </a:defRPr>
            </a:pPr>
            <a:r>
              <a:t>13 routers with comprehensive CRUD endpoints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517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818"/>
                </a:solidFill>
                <a:latin typeface="Segoe UI"/>
              </a:defRPr>
            </a:pPr>
            <a:r>
              <a:t>Players API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246888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onsolas"/>
              </a:defRPr>
            </a:pPr>
            <a:r>
              <a:t>POST  /players/</a:t>
            </a:r>
            <a:br/>
            <a:r>
              <a:t>GET   /players/</a:t>
            </a:r>
            <a:br/>
            <a:r>
              <a:t>GET   /players/{id}</a:t>
            </a:r>
            <a:br/>
            <a:r>
              <a:t>PUT   /players/{id}</a:t>
            </a:r>
            <a:br/>
            <a:r>
              <a:t>DELETE /players/{id}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371600"/>
            <a:ext cx="26517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417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818"/>
                </a:solidFill>
                <a:latin typeface="Segoe UI"/>
              </a:defRPr>
            </a:pPr>
            <a:r>
              <a:t>Teams 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737360"/>
            <a:ext cx="246888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82880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onsolas"/>
              </a:defRPr>
            </a:pPr>
            <a:r>
              <a:t>POST  /teams/</a:t>
            </a:r>
            <a:br/>
            <a:r>
              <a:t>GET   /teams/</a:t>
            </a:r>
            <a:br/>
            <a:r>
              <a:t>POST  /teams/{id}/players</a:t>
            </a:r>
            <a:br/>
            <a:r>
              <a:t>DELETE /teams/{id}/players/{pid}</a:t>
            </a:r>
            <a:br/>
            <a:r>
              <a:t>DELETE /teams/{id}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26517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417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818"/>
                </a:solidFill>
                <a:latin typeface="Segoe UI"/>
              </a:defRPr>
            </a:pPr>
            <a:r>
              <a:t>Matches 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737360"/>
            <a:ext cx="246888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82880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onsolas"/>
              </a:defRPr>
            </a:pPr>
            <a:r>
              <a:t>POST  /matches/</a:t>
            </a:r>
            <a:br/>
            <a:r>
              <a:t>POST  /matches/{id}/toss</a:t>
            </a:r>
            <a:br/>
            <a:r>
              <a:t>POST  /matches/{id}/start</a:t>
            </a:r>
            <a:br/>
            <a:r>
              <a:t>POST  /matches/{id}/end</a:t>
            </a:r>
            <a:br/>
            <a:r>
              <a:t>POST  /matches/{id}/super-over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371600"/>
            <a:ext cx="26517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1417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818"/>
                </a:solidFill>
                <a:latin typeface="Segoe UI"/>
              </a:defRPr>
            </a:pPr>
            <a:r>
              <a:t>Scoring API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0" y="1737360"/>
            <a:ext cx="246888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182880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onsolas"/>
              </a:defRPr>
            </a:pPr>
            <a:r>
              <a:t>POST  /scoring/innings/{id}/ball</a:t>
            </a:r>
            <a:br/>
            <a:r>
              <a:t>GET   /scoring/match/{id}/live</a:t>
            </a:r>
            <a:br/>
            <a:r>
              <a:t>GET   /scoring/innings/{id}/scorecard</a:t>
            </a:r>
            <a:br/>
            <a:r>
              <a:t>DELETE /undo/{innings_id}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206240"/>
            <a:ext cx="26517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251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818"/>
                </a:solidFill>
                <a:latin typeface="Segoe UI"/>
              </a:defRPr>
            </a:pPr>
            <a:r>
              <a:t>Stats &amp; Records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572000"/>
            <a:ext cx="246888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6634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onsolas"/>
              </a:defRPr>
            </a:pPr>
            <a:r>
              <a:t>GET  /stats/player/{id}</a:t>
            </a:r>
            <a:br/>
            <a:r>
              <a:t>GET  /records/</a:t>
            </a:r>
            <a:br/>
            <a:r>
              <a:t>GET  /rankings/</a:t>
            </a:r>
            <a:br/>
            <a:r>
              <a:t>GET  /stats/h2h/{p1}/{p2}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4206240"/>
            <a:ext cx="26517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0440" y="4251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818"/>
                </a:solidFill>
                <a:latin typeface="Segoe UI"/>
              </a:defRPr>
            </a:pPr>
            <a:r>
              <a:t>User Auth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0" y="4572000"/>
            <a:ext cx="246888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20440" y="46634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onsolas"/>
              </a:defRPr>
            </a:pPr>
            <a:r>
              <a:t>POST /api/user/register</a:t>
            </a:r>
            <a:br/>
            <a:r>
              <a:t>POST /api/user/forgot-password</a:t>
            </a:r>
            <a:br/>
            <a:r>
              <a:t>POST /api/user/verify-otp</a:t>
            </a:r>
            <a:br/>
            <a:r>
              <a:t>POST /api/user/profile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4206240"/>
            <a:ext cx="26517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4251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818"/>
                </a:solidFill>
                <a:latin typeface="Segoe UI"/>
              </a:defRPr>
            </a:pPr>
            <a:r>
              <a:t>Notifications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572000"/>
            <a:ext cx="246888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46634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onsolas"/>
              </a:defRPr>
            </a:pPr>
            <a:r>
              <a:t>GET  /api/notifications/</a:t>
            </a:r>
            <a:br/>
            <a:r>
              <a:t>POST /api/notifications/{id}/read</a:t>
            </a:r>
            <a:br/>
            <a:r>
              <a:t>POST /api/notifications/read-all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35440" y="4206240"/>
            <a:ext cx="26517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72600" y="4251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818"/>
                </a:solidFill>
                <a:latin typeface="Segoe UI"/>
              </a:defRPr>
            </a:pPr>
            <a:r>
              <a:t>WebSocket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26880" y="4572000"/>
            <a:ext cx="246888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72600" y="46634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onsolas"/>
              </a:defRPr>
            </a:pPr>
            <a:r>
              <a:t>WS  /ws/live/{match_id}</a:t>
            </a:r>
            <a:br/>
            <a:br/>
            <a:r>
              <a:t>Real-time score updates</a:t>
            </a:r>
            <a:br/>
            <a:r>
              <a:t>pushed to all connected</a:t>
            </a:r>
            <a:br/>
            <a:r>
              <a:t>clients watching a match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2818"/>
                </a:solidFill>
                <a:latin typeface="Segoe UI"/>
              </a:defRPr>
            </a:pPr>
            <a:r>
              <a:t>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C757D"/>
                </a:solidFill>
                <a:latin typeface="Segoe UI"/>
              </a:defRPr>
            </a:pPr>
            <a:r>
              <a:t>Modular architecture with separation of concerns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685800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6492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onsolas"/>
              </a:defRPr>
            </a:pPr>
            <a:r>
              <a:t>BOXcric/</a:t>
            </a:r>
            <a:br/>
            <a:r>
              <a:t>├── app/</a:t>
            </a:r>
            <a:br/>
            <a:r>
              <a:t>│   ├── main.py           # FastAPI app, routes, startup</a:t>
            </a:r>
            <a:br/>
            <a:r>
              <a:t>│   ├── config.py         # Environment configuration</a:t>
            </a:r>
            <a:br/>
            <a:r>
              <a:t>│   ├── database.py       # SQLAlchemy + Turso connection</a:t>
            </a:r>
            <a:br/>
            <a:r>
              <a:t>│   ├── auth.py           # JWT, bcrypt, OTP, cookies</a:t>
            </a:r>
            <a:br/>
            <a:r>
              <a:t>│   ├── models/           # 14 SQLAlchemy table models</a:t>
            </a:r>
            <a:br/>
            <a:r>
              <a:t>│   │   ├── user.py, player.py, team.py</a:t>
            </a:r>
            <a:br/>
            <a:r>
              <a:t>│   │   ├── match.py, innings.py, ball.py</a:t>
            </a:r>
            <a:br/>
            <a:r>
              <a:t>│   │   └── notification.py, extras.py, video.py</a:t>
            </a:r>
            <a:br/>
            <a:r>
              <a:t>│   ├── routers/          # 13 API endpoint handlers</a:t>
            </a:r>
            <a:br/>
            <a:r>
              <a:t>│   │   ├── matches.py, scoring.py, players.py</a:t>
            </a:r>
            <a:br/>
            <a:r>
              <a:t>│   │   ├── teams.py, stats.py, records.py</a:t>
            </a:r>
            <a:br/>
            <a:r>
              <a:t>│   │   └── user_auth.py, notifications.py, ...</a:t>
            </a:r>
            <a:br/>
            <a:r>
              <a:t>│   ├── schemas/          # Pydantic validation models</a:t>
            </a:r>
            <a:br/>
            <a:r>
              <a:t>│   ├── services/         # Business logic layer</a:t>
            </a:r>
            <a:br/>
            <a:r>
              <a:t>│   │   ├── scoring.py    # Ball-by-ball engine</a:t>
            </a:r>
            <a:br/>
            <a:r>
              <a:t>│   │   ├── stats.py      # Career statistics</a:t>
            </a:r>
            <a:br/>
            <a:r>
              <a:t>│   │   ├── rankings.py   # Weighted rankings</a:t>
            </a:r>
            <a:br/>
            <a:r>
              <a:t>│   │   └── commentary.py # Auto-generated text</a:t>
            </a:r>
            <a:br/>
            <a:r>
              <a:t>│   └── websocket/        # WebSocket manager</a:t>
            </a:r>
            <a:br/>
            <a:r>
              <a:t>├── templates/            # Jinja2 HTML (admin + user)</a:t>
            </a:r>
            <a:br/>
            <a:r>
              <a:t>├── static/               # CSS, JS, icons, uploads</a:t>
            </a:r>
            <a:br/>
            <a:r>
              <a:t>├── requirements.txt</a:t>
            </a:r>
            <a:br/>
            <a:r>
              <a:t>├── Procfile              # Render start command</a:t>
            </a:r>
            <a:br/>
            <a:r>
              <a:t>└── runtime.txt           # Python 3.11.11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371600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4173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2818"/>
                </a:solidFill>
                <a:latin typeface="Segoe UI"/>
              </a:defRPr>
            </a:pPr>
            <a:r>
              <a:t>Models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71907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Segoe UI"/>
              </a:defRPr>
            </a:pPr>
            <a:r>
              <a:t>SQLAlchemy declarative models</a:t>
            </a:r>
            <a:br/>
            <a:r>
              <a:t>define all 14 database tables</a:t>
            </a:r>
            <a:br/>
            <a:r>
              <a:t>with relationships &amp; enums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2651760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26974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2818"/>
                </a:solidFill>
                <a:latin typeface="Segoe UI"/>
              </a:defRPr>
            </a:pPr>
            <a:r>
              <a:t>Routers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99923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Segoe UI"/>
              </a:defRPr>
            </a:pPr>
            <a:r>
              <a:t>FastAPI route handlers</a:t>
            </a:r>
            <a:br/>
            <a:r>
              <a:t>for each resource group;</a:t>
            </a:r>
            <a:br/>
            <a:r>
              <a:t>input validation via Pydantic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3931920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39776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2818"/>
                </a:solidFill>
                <a:latin typeface="Segoe UI"/>
              </a:defRPr>
            </a:pPr>
            <a:r>
              <a:t>Services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27939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Segoe UI"/>
              </a:defRPr>
            </a:pPr>
            <a:r>
              <a:t>Business logic separated</a:t>
            </a:r>
            <a:br/>
            <a:r>
              <a:t>from HTTP concerns;</a:t>
            </a:r>
            <a:br/>
            <a:r>
              <a:t>reusable across routes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5212079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5257799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2818"/>
                </a:solidFill>
                <a:latin typeface="Segoe UI"/>
              </a:defRPr>
            </a:pPr>
            <a:r>
              <a:t>WebSocket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5559551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Segoe UI"/>
              </a:defRPr>
            </a:pPr>
            <a:r>
              <a:t>Connection manager tracks</a:t>
            </a:r>
            <a:br/>
            <a:r>
              <a:t>clients per match;</a:t>
            </a:r>
            <a:br/>
            <a:r>
              <a:t>broadcasts on every ball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2818"/>
                </a:solidFill>
                <a:latin typeface="Segoe UI"/>
              </a:defRPr>
            </a:pPr>
            <a:r>
              <a:t>Match Lifecycle &amp; Notifications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C757D"/>
                </a:solidFill>
                <a:latin typeface="Segoe UI"/>
              </a:defRPr>
            </a:pPr>
            <a:r>
              <a:t>State management with notification triggers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65176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9903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SCHEDULED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Segoe UI"/>
              </a:defRPr>
            </a:pPr>
            <a:r>
              <a:t>Match created</a:t>
            </a:r>
            <a:br/>
            <a:r>
              <a:t>Teams selected</a:t>
            </a:r>
            <a:br/>
            <a:r>
              <a:t>Overs 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37160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65176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39903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74519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Segoe UI"/>
              </a:defRPr>
            </a:pPr>
            <a:r>
              <a:t>Toss recorded</a:t>
            </a:r>
            <a:br/>
            <a:r>
              <a:t>Innings created</a:t>
            </a:r>
            <a:br/>
            <a:r>
              <a:t>Batting order set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2651760" cy="3657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39903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874519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Segoe UI"/>
              </a:defRPr>
            </a:pPr>
            <a:r>
              <a:t>Scoring in progress</a:t>
            </a:r>
            <a:br/>
            <a:r>
              <a:t>WebSocket active</a:t>
            </a:r>
            <a:br/>
            <a:r>
              <a:t>Live updates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37160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35440" y="1371600"/>
            <a:ext cx="2651760" cy="365760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139903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COMPLETED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1874519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Segoe UI"/>
              </a:defRPr>
            </a:pPr>
            <a:r>
              <a:t>Result calculated</a:t>
            </a:r>
            <a:br/>
            <a:r>
              <a:t>Winner determined</a:t>
            </a:r>
            <a:br/>
            <a:r>
              <a:t>Stats updated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21031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C757D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21031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C757D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21031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C757D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74903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2818"/>
                </a:solidFill>
                <a:latin typeface="Segoe UI"/>
              </a:defRPr>
            </a:pPr>
            <a:r>
              <a:t>Notification System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114800"/>
            <a:ext cx="26517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1605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Segoe UI"/>
              </a:defRPr>
            </a:pPr>
            <a:r>
              <a:t>Trigger Events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52628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📋 Match created</a:t>
            </a:r>
            <a:br/>
            <a:r>
              <a:t>🪙 Toss recorded</a:t>
            </a:r>
            <a:br/>
            <a:r>
              <a:t>🏏 Match started</a:t>
            </a:r>
            <a:br/>
            <a:r>
              <a:t>🏆 Match ended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0" y="4114800"/>
            <a:ext cx="26517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41605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Segoe UI"/>
              </a:defRPr>
            </a:pPr>
            <a:r>
              <a:t>Recipients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452628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All players in both teams</a:t>
            </a:r>
            <a:br/>
            <a:r>
              <a:t>(via Player.user_id link)</a:t>
            </a:r>
            <a:br/>
            <a:r>
              <a:t>+ Team hosts &amp; co-hosts</a:t>
            </a:r>
            <a:br/>
            <a:r>
              <a:t>= Every involved user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4114800"/>
            <a:ext cx="26517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41605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Segoe UI"/>
              </a:defRPr>
            </a:pPr>
            <a:r>
              <a:t>Delivery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52628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In-app notifications stored</a:t>
            </a:r>
            <a:br/>
            <a:r>
              <a:t>in database; unread badge</a:t>
            </a:r>
            <a:br/>
            <a:r>
              <a:t>on bell icon; auto-polled</a:t>
            </a:r>
            <a:br/>
            <a:r>
              <a:t>every 30 seconds via JS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35440" y="4114800"/>
            <a:ext cx="26517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72600" y="41605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Segoe UI"/>
              </a:defRPr>
            </a:pPr>
            <a:r>
              <a:t>User Experience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452628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Bell icon with red badge</a:t>
            </a:r>
            <a:br/>
            <a:r>
              <a:t>Dropdown panel with items</a:t>
            </a:r>
            <a:br/>
            <a:r>
              <a:t>Mark individual/all as read</a:t>
            </a:r>
            <a:br/>
            <a:r>
              <a:t>Click → match detail page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2818"/>
                </a:solidFill>
                <a:latin typeface="Segoe UI"/>
              </a:defRPr>
            </a:pPr>
            <a:r>
              <a:t>Advanced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C757D"/>
                </a:solidFill>
                <a:latin typeface="Segoe UI"/>
              </a:defRPr>
            </a:pPr>
            <a:r>
              <a:t>Commentary, win probability, rankings, and social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517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6517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Segoe UI"/>
              </a:defRPr>
            </a:pPr>
            <a:r>
              <a:t>💬  Auto Commentary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•  Ball-by-ball text commentary</a:t>
            </a:r>
          </a:p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•  Over summary commentary</a:t>
            </a:r>
          </a:p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•  Context-aware descriptions</a:t>
            </a:r>
          </a:p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•  Milestone announcements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371600"/>
            <a:ext cx="26517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651760" cy="54864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5087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472A"/>
                </a:solidFill>
                <a:latin typeface="Segoe UI"/>
              </a:defRPr>
            </a:pPr>
            <a:r>
              <a:t>📊  Win Probability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9202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•  Multi-factor calculation</a:t>
            </a:r>
          </a:p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•  Run rate, wickets, overs left</a:t>
            </a:r>
          </a:p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•  Target pressure factor</a:t>
            </a:r>
          </a:p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•  Updates after every ball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26517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26517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5087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Segoe UI"/>
              </a:defRPr>
            </a:pPr>
            <a:r>
              <a:t>🏅  Rankings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9202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•  Weighted scoring formula</a:t>
            </a:r>
          </a:p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•  Batting, bowling, all-rounder</a:t>
            </a:r>
          </a:p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•  Recent form weighting</a:t>
            </a:r>
          </a:p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•  Community leaderboard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371600"/>
            <a:ext cx="26517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35440" y="1371600"/>
            <a:ext cx="265176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15087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Segoe UI"/>
              </a:defRPr>
            </a:pPr>
            <a:r>
              <a:t>🎯  Social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19202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•  MOM voting per match</a:t>
            </a:r>
          </a:p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•  Match winner predictions</a:t>
            </a:r>
          </a:p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•  Emoji reactions (🔥🎉😱👏)</a:t>
            </a:r>
          </a:p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Segoe UI"/>
              </a:defRPr>
            </a:pPr>
            <a:r>
              <a:t>•  Fantasy XI selection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297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2818"/>
                </a:solidFill>
                <a:latin typeface="Segoe UI"/>
              </a:defRPr>
            </a:pPr>
            <a:r>
              <a:t>Media &amp; Content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663440"/>
            <a:ext cx="34747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709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2818"/>
                </a:solidFill>
                <a:latin typeface="Segoe UI"/>
              </a:defRPr>
            </a:pPr>
            <a:r>
              <a:t>Video Gallery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0292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Segoe UI"/>
              </a:defRPr>
            </a:pPr>
            <a:r>
              <a:t>Upload match videos or add YouTube links;</a:t>
            </a:r>
            <a:br/>
            <a:r>
              <a:t>thumbnail auto-generated; video player page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4663440"/>
            <a:ext cx="34747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4709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2818"/>
                </a:solidFill>
                <a:latin typeface="Segoe UI"/>
              </a:defRPr>
            </a:pPr>
            <a:r>
              <a:t>Match Photos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50292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Segoe UI"/>
              </a:defRPr>
            </a:pPr>
            <a:r>
              <a:t>Upload photos per match; gallery view;</a:t>
            </a:r>
            <a:br/>
            <a:r>
              <a:t>accessible from match detail page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4663440"/>
            <a:ext cx="34747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4709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2818"/>
                </a:solidFill>
                <a:latin typeface="Segoe UI"/>
              </a:defRPr>
            </a:pPr>
            <a:r>
              <a:t>Milestones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50292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Segoe UI"/>
              </a:defRPr>
            </a:pPr>
            <a:r>
              <a:t>Auto-detected: centuries (50/100), wicket hauls (3W/5W);</a:t>
            </a:r>
            <a:br/>
            <a:r>
              <a:t>stored as badges; displayed on player profile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2818"/>
                </a:solidFill>
                <a:latin typeface="Segoe UI"/>
              </a:defRPr>
            </a:pPr>
            <a:r>
              <a:t>Deployment &amp;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C757D"/>
                </a:solidFill>
                <a:latin typeface="Segoe UI"/>
              </a:defRPr>
            </a:pPr>
            <a:r>
              <a:t>Production setup and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D2818"/>
                </a:solidFill>
                <a:latin typeface="Segoe UI"/>
              </a:defRPr>
            </a:pPr>
            <a:r>
              <a:t>Render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onsolas"/>
              </a:defRPr>
            </a:pPr>
            <a:r>
              <a:t>Build:    pip install -r requirements.txt</a:t>
            </a:r>
            <a:br/>
            <a:r>
              <a:t>Start:    uvicorn app.main:app --host 0.0.0.0 --port $PORT</a:t>
            </a:r>
            <a:br/>
            <a:r>
              <a:t>Python:   3.11.11 (pinned in runtime.txt)</a:t>
            </a:r>
            <a:br/>
            <a:r>
              <a:t>Deploy:   Auto on push to main branch</a:t>
            </a:r>
            <a:br/>
            <a:r>
              <a:t>Keep-alive: Background task pings /health every 10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4864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173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D2818"/>
                </a:solidFill>
                <a:latin typeface="Segoe UI"/>
              </a:defRPr>
            </a:pPr>
            <a:r>
              <a:t>Production URLs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74519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onsolas"/>
              </a:defRPr>
            </a:pPr>
            <a:r>
              <a:t>/app          → User-facing application</a:t>
            </a:r>
            <a:br/>
            <a:r>
              <a:t>/admin        → Admin panel (scoring, CRUD)</a:t>
            </a:r>
            <a:br/>
            <a:r>
              <a:t>/health       → Health check endpoint</a:t>
            </a:r>
            <a:br/>
            <a:r>
              <a:t>/docs         → Auto-generated Swagger UI</a:t>
            </a:r>
            <a:br/>
            <a:r>
              <a:t>/ws/live/{id} → WebSocket live scores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2818"/>
                </a:solidFill>
                <a:latin typeface="Segoe UI"/>
              </a:defRPr>
            </a:pPr>
            <a:r>
              <a:t>Key Test Scenarios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754880"/>
            <a:ext cx="26517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8006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472A"/>
                </a:solidFill>
                <a:latin typeface="Segoe UI"/>
              </a:defRPr>
            </a:pPr>
            <a:r>
              <a:t>✓  Data Persistence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1206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Segoe UI"/>
              </a:defRPr>
            </a:pPr>
            <a:r>
              <a:t>Create player → kill server</a:t>
            </a:r>
            <a:br/>
            <a:r>
              <a:t>→ delete local DB → restart</a:t>
            </a:r>
            <a:br/>
            <a:r>
              <a:t>→ player still exists (Turso)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4754880"/>
            <a:ext cx="26517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48006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472A"/>
                </a:solidFill>
                <a:latin typeface="Segoe UI"/>
              </a:defRPr>
            </a:pPr>
            <a:r>
              <a:t>✓  Live Scoring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51206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Segoe UI"/>
              </a:defRPr>
            </a:pPr>
            <a:r>
              <a:t>Score ball → innings totals</a:t>
            </a:r>
            <a:br/>
            <a:r>
              <a:t>updated → WebSocket pushes</a:t>
            </a:r>
            <a:br/>
            <a:r>
              <a:t>to all connected clients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754880"/>
            <a:ext cx="26517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8006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472A"/>
                </a:solidFill>
                <a:latin typeface="Segoe UI"/>
              </a:defRPr>
            </a:pPr>
            <a:r>
              <a:t>✓  Match Lifecycle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51206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Segoe UI"/>
              </a:defRPr>
            </a:pPr>
            <a:r>
              <a:t>Create → Toss → Start → End</a:t>
            </a:r>
            <a:br/>
            <a:r>
              <a:t>→ Result auto-calculated</a:t>
            </a:r>
            <a:br/>
            <a:r>
              <a:t>→ Notifications sent to all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4754880"/>
            <a:ext cx="26517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48006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472A"/>
                </a:solidFill>
                <a:latin typeface="Segoe UI"/>
              </a:defRPr>
            </a:pPr>
            <a:r>
              <a:t>✓  OTP Login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51206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Segoe UI"/>
              </a:defRPr>
            </a:pPr>
            <a:r>
              <a:t>Enter email → receive OTP</a:t>
            </a:r>
            <a:br/>
            <a:r>
              <a:t>→ verify → JWT cookie set</a:t>
            </a:r>
            <a:br/>
            <a:r>
              <a:t>→ profile setup flow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2818"/>
                </a:solidFill>
                <a:latin typeface="Segoe UI"/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C757D"/>
                </a:solidFill>
                <a:latin typeface="Segoe UI"/>
              </a:defRPr>
            </a:pPr>
            <a:r>
              <a:t>Roadmap for further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517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73152" cy="2194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Segoe UI"/>
              </a:defRPr>
            </a:pPr>
            <a:r>
              <a:t>🏆  Tournament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Points table, group stages,</a:t>
            </a:r>
            <a:br/>
            <a:r>
              <a:t>knockout brackets, league</a:t>
            </a:r>
            <a:br/>
            <a:r>
              <a:t>management with standings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371600"/>
            <a:ext cx="26517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73152" cy="2194560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472A"/>
                </a:solidFill>
                <a:latin typeface="Segoe UI"/>
              </a:defRPr>
            </a:pPr>
            <a:r>
              <a:t>🔔  Push Notifications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7452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Browser Push API for</a:t>
            </a:r>
            <a:br/>
            <a:r>
              <a:t>real-time match event</a:t>
            </a:r>
            <a:br/>
            <a:r>
              <a:t>alerts even when app closed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26517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73152" cy="2194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Segoe UI"/>
              </a:defRPr>
            </a:pPr>
            <a:r>
              <a:t>📊  Advanced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87452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Wagon wheel, pitch map,</a:t>
            </a:r>
            <a:br/>
            <a:r>
              <a:t>scoring zones, partnership</a:t>
            </a:r>
            <a:br/>
            <a:r>
              <a:t>charts, run rate graphs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371600"/>
            <a:ext cx="26517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35440" y="1371600"/>
            <a:ext cx="73152" cy="21945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3946"/>
                </a:solidFill>
                <a:latin typeface="Segoe UI"/>
              </a:defRPr>
            </a:pPr>
            <a:r>
              <a:t>🤖  ML Win Predictor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187452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Machine learning model</a:t>
            </a:r>
            <a:br/>
            <a:r>
              <a:t>for win probability using</a:t>
            </a:r>
            <a:br/>
            <a:r>
              <a:t>historical match data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26517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31920"/>
            <a:ext cx="73152" cy="2194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023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📱  Native Mobile 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43484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React Native or Flutter</a:t>
            </a:r>
            <a:br/>
            <a:r>
              <a:t>wrapper for iOS/Android</a:t>
            </a:r>
            <a:br/>
            <a:r>
              <a:t>app store distribution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3931920"/>
            <a:ext cx="26517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83280" y="3931920"/>
            <a:ext cx="73152" cy="2194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0" y="4023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Segoe UI"/>
              </a:defRPr>
            </a:pPr>
            <a:r>
              <a:t>💬  AI Commentary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43484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GPT-powered natural language</a:t>
            </a:r>
            <a:br/>
            <a:r>
              <a:t>commentary generation with</a:t>
            </a:r>
            <a:br/>
            <a:r>
              <a:t>context-aware descriptions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931920"/>
            <a:ext cx="26517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3931920"/>
            <a:ext cx="73152" cy="2194560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023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472A"/>
                </a:solidFill>
                <a:latin typeface="Segoe UI"/>
              </a:defRPr>
            </a:pPr>
            <a:r>
              <a:t>🌍  Multi-language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43484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Hindi, Telugu, Tamil support</a:t>
            </a:r>
            <a:br/>
            <a:r>
              <a:t>for broader regional cricket</a:t>
            </a:r>
            <a:br/>
            <a:r>
              <a:t>community adoption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35440" y="3931920"/>
            <a:ext cx="26517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35440" y="3931920"/>
            <a:ext cx="73152" cy="219456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0" y="4023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757D"/>
                </a:solidFill>
                <a:latin typeface="Segoe UI"/>
              </a:defRPr>
            </a:pPr>
            <a:r>
              <a:t>⚙️  Docker &amp; CI/CD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443484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Containerized deployment</a:t>
            </a:r>
            <a:br/>
            <a:r>
              <a:t>GitHub Actions pipeline</a:t>
            </a:r>
            <a:br/>
            <a:r>
              <a:t>Automated testing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Segoe UI"/>
              </a:defRPr>
            </a:pPr>
            <a:r>
              <a:t>Thank You!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926080"/>
            <a:ext cx="2103120" cy="254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8DADC"/>
                </a:solidFill>
                <a:latin typeface="Segoe UI"/>
              </a:defRPr>
            </a:pPr>
            <a:r>
              <a:t>BOXcric — Cricket Match Management &amp; Live Scoring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A6"/>
                </a:solidFill>
                <a:latin typeface="Segoe UI"/>
              </a:defRPr>
            </a:pPr>
            <a:r>
              <a:t>Python  |  FastAPI  |  Turso  |  WebSocket  |  PWA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